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asa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914400" cy="609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26679" y="146304"/>
            <a:ext cx="2148840" cy="347472"/>
          </a:xfrm>
          <a:prstGeom prst="roundRect">
            <a:avLst/>
          </a:prstGeom>
          <a:solidFill>
            <a:srgbClr val="0E2A4F"/>
          </a:solidFill>
          <a:ln w="12700">
            <a:solidFill>
              <a:srgbClr val="0E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99831" y="164592"/>
            <a:ext cx="2002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1FAE5"/>
                </a:solidFill>
                <a:latin typeface="Arial Unicode MS"/>
              </a:rPr>
              <a:t>عرض استثماري | 12 مارس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3000" b="1">
                <a:solidFill>
                  <a:srgbClr val="FFFFFF"/>
                </a:solidFill>
                <a:latin typeface="Arial Unicode MS"/>
              </a:rPr>
              <a:t>مسار المحامي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83080"/>
            <a:ext cx="5852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0">
                <a:solidFill>
                  <a:srgbClr val="F1F5F9"/>
                </a:solidFill>
                <a:latin typeface="Arial Unicode MS"/>
              </a:rPr>
              <a:t>منصة عربية متخصصة لإدارة وتشغيل مكاتب المحاماة داخل السوق السعودي.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926080"/>
            <a:ext cx="5715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0">
                <a:solidFill>
                  <a:srgbClr val="CBD5E1"/>
                </a:solidFill>
                <a:latin typeface="Arial Unicode MS"/>
              </a:rPr>
              <a:t>عرض مبني على النسخة الحالية من المنتج: تشغيل داخلي للمكتب، تسعير واضح، بوابة عميل، مسار نسخة الشركات عبر ناجز، وطبقة ذكاء قانوني قابلة للتوسع.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2651760" cy="123444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18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482803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16A34A"/>
                </a:solidFill>
                <a:latin typeface="Arial Unicode MS"/>
              </a:rPr>
              <a:t>الحل الحالي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138928"/>
            <a:ext cx="23225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Arial Unicode MS"/>
              </a:rPr>
              <a:t>عملاء، قضايا، مستندات، مهام، فوترة وتقارير من منصة واحدة.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4663440"/>
            <a:ext cx="2651760" cy="123444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18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6160" y="482803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16A34A"/>
                </a:solidFill>
                <a:latin typeface="Arial Unicode MS"/>
              </a:rPr>
              <a:t>التوسع التجاري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138928"/>
            <a:ext cx="23225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Arial Unicode MS"/>
              </a:rPr>
              <a:t>تجربة مجانية، باقات واضحة، وبرنامج شركاء نجاح قابل للتفعيل.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4663440"/>
            <a:ext cx="2651760" cy="1234440"/>
          </a:xfrm>
          <a:prstGeom prst="roundRect">
            <a:avLst/>
          </a:prstGeom>
          <a:solidFill>
            <a:srgbClr val="0F1F37"/>
          </a:solidFill>
          <a:ln w="12700">
            <a:solidFill>
              <a:srgbClr val="1833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4828032"/>
            <a:ext cx="232257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16A34A"/>
                </a:solidFill>
                <a:latin typeface="Arial Unicode MS"/>
              </a:rPr>
              <a:t>قيمة التوسع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5138928"/>
            <a:ext cx="232257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>
                <a:solidFill>
                  <a:srgbClr val="CBD5E1"/>
                </a:solidFill>
                <a:latin typeface="Arial Unicode MS"/>
              </a:rPr>
              <a:t>نسخة الشركات عبر ناجز ومساعد قانوني مرتبط بالبيانات.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966960" y="164592"/>
            <a:ext cx="160020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40112" y="182879"/>
            <a:ext cx="1453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المشكلة والفرصة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12280" y="73152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لماذا يستحق هذا السوق حلًا متخصصًا؟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25880"/>
            <a:ext cx="5806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80" b="0">
                <a:solidFill>
                  <a:srgbClr val="475569"/>
                </a:solidFill>
                <a:latin typeface="Arial Unicode MS"/>
              </a:rPr>
              <a:t>القيمة لا تكمن في رقمنة أداة واحدة، بل في تحويل المكتب كاملًا إلى نظام تشغيلي منضبط.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27632"/>
            <a:ext cx="5074920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1874519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0B1F3B"/>
                </a:solidFill>
                <a:latin typeface="Arial Unicode MS"/>
              </a:rPr>
              <a:t>الأطروحة الاستثمارية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Arial Unicode MS"/>
              </a:rPr>
              <a:t>• الفئة القانونية حساسة وتحتاج ثقة وصلاحيات وعزل بيانات من البداية.</a:t>
            </a:r>
          </a:p>
          <a:p>
            <a:pPr algn="r"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Arial Unicode MS"/>
              </a:rPr>
              <a:t>• الأدوات العامة لا تعكس اللغة التشغيلية المحلية ولا تكاملات السوق السعودي.</a:t>
            </a:r>
          </a:p>
          <a:p>
            <a:pPr algn="r"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Arial Unicode MS"/>
              </a:rPr>
              <a:t>• المنتج الحالي تجاوز مرحلة الفكرة إلى قاعدة جاهزة لاختبار السوق والاحتفاظ.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43891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4498848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الشريحة المستهدفة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731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0" b="0">
                <a:solidFill>
                  <a:srgbClr val="475569"/>
                </a:solidFill>
                <a:latin typeface="Arial Unicode MS"/>
              </a:rPr>
              <a:t>مكاتب المحاماة الصغيرة والمتوسطة أولًا، ثم نسخة الشركات الأعلى قيمة.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0175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127248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مبررات التوقيت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4015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0" b="0">
                <a:solidFill>
                  <a:srgbClr val="475569"/>
                </a:solidFill>
                <a:latin typeface="Arial Unicode MS"/>
              </a:rPr>
              <a:t>النسخة الحالية تملك منتجًا فعليًا، وتسعيرًا جاهزًا، ووثائق إطلاق وتشغيل.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645920"/>
            <a:ext cx="52578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1755648"/>
            <a:ext cx="47548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50" b="1">
                <a:solidFill>
                  <a:srgbClr val="0B1F3B"/>
                </a:solidFill>
                <a:latin typeface="Arial Unicode MS"/>
              </a:rPr>
              <a:t>النتيجة الاستثمارية القريبة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2996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0" b="0">
                <a:solidFill>
                  <a:srgbClr val="475569"/>
                </a:solidFill>
                <a:latin typeface="Arial Unicode MS"/>
              </a:rPr>
              <a:t>الانتقال من الجاهزية التقنية إلى إثبات التبني والإيراد داخل السوق.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 w="12700">
            <a:solidFill>
              <a:srgbClr val="F6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332720" y="164592"/>
            <a:ext cx="118872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05872" y="182879"/>
            <a:ext cx="1042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ما بُني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35240" y="7315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مكونات الحل الحالية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325880"/>
            <a:ext cx="5303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Arial Unicode MS"/>
              </a:rPr>
              <a:t>المنصة ليست وحدة واحدة، بل منظومة مترابطة ترفع قيمة الحساب وتزيد صعوبة استبداله بحل جزئي.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3736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B1F3B"/>
                </a:solidFill>
                <a:latin typeface="Arial Unicode MS"/>
              </a:rPr>
              <a:t>إدارة المكتب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12848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80" b="0">
                <a:solidFill>
                  <a:srgbClr val="475569"/>
                </a:solidFill>
                <a:latin typeface="Arial Unicode MS"/>
              </a:rPr>
              <a:t>عملاء وقضايا ومعاملات وصلاحيات.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95928" y="173736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8808" y="188366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B1F3B"/>
                </a:solidFill>
                <a:latin typeface="Arial Unicode MS"/>
              </a:rPr>
              <a:t>المستندات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8" y="2212848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80" b="0">
                <a:solidFill>
                  <a:srgbClr val="475569"/>
                </a:solidFill>
                <a:latin typeface="Arial Unicode MS"/>
              </a:rPr>
              <a:t>إصدارات وروابط مشاركة وبحث وأرشفة.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1504" y="173736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44383" y="188366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B1F3B"/>
                </a:solidFill>
                <a:latin typeface="Arial Unicode MS"/>
              </a:rPr>
              <a:t>المهام والتقويم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3" y="2212848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80" b="0">
                <a:solidFill>
                  <a:srgbClr val="475569"/>
                </a:solidFill>
                <a:latin typeface="Arial Unicode MS"/>
              </a:rPr>
              <a:t>استحقاقات وتنبيهات ومتابعة للحركة اليومية.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6576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8039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B1F3B"/>
                </a:solidFill>
                <a:latin typeface="Arial Unicode MS"/>
              </a:rPr>
              <a:t>الفوترة والتحصيل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133087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80" b="0">
                <a:solidFill>
                  <a:srgbClr val="475569"/>
                </a:solidFill>
                <a:latin typeface="Arial Unicode MS"/>
              </a:rPr>
              <a:t>عروض أسعار وفواتير ومتابعة المدفوع والمتأخر.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95928" y="36576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78808" y="38039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B1F3B"/>
                </a:solidFill>
                <a:latin typeface="Arial Unicode MS"/>
              </a:rPr>
              <a:t>بوابة العميل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78808" y="4133087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80" b="0">
                <a:solidFill>
                  <a:srgbClr val="475569"/>
                </a:solidFill>
                <a:latin typeface="Arial Unicode MS"/>
              </a:rPr>
              <a:t>دخول برمز تحقق وعرض الملفات المصرح بها.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3657600"/>
            <a:ext cx="315468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3" y="38039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B1F3B"/>
                </a:solidFill>
                <a:latin typeface="Arial Unicode MS"/>
              </a:rPr>
              <a:t>نسخة الشركات والذكاء القانوني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3" y="4133087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80" b="0">
                <a:solidFill>
                  <a:srgbClr val="475569"/>
                </a:solidFill>
                <a:latin typeface="Arial Unicode MS"/>
              </a:rPr>
              <a:t>ناجز + مساعد قانوني متصل بالبيانات.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576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164592"/>
            <a:ext cx="155448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85832" y="182879"/>
            <a:ext cx="1408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مؤشرات التبني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749808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مؤشرات الاستخدام الحالية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1353312"/>
            <a:ext cx="6080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40" b="0">
                <a:solidFill>
                  <a:srgbClr val="475569"/>
                </a:solidFill>
                <a:latin typeface="Arial Unicode MS"/>
              </a:rPr>
              <a:t>الأرقام التالية تعكس استخدامًا فعليًا داخل النسخة الحالية، وهي نقطة بداية موثقة وليست مؤشرات توسع نهائية بعد.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783080"/>
            <a:ext cx="2788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23774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200" b="1" dirty="0">
                <a:solidFill>
                  <a:srgbClr val="0B1F3B"/>
                </a:solidFill>
                <a:latin typeface="Arial Unicode MS"/>
              </a:rPr>
              <a:t>35</a:t>
            </a:r>
            <a:endParaRPr sz="2200" b="1" dirty="0">
              <a:solidFill>
                <a:srgbClr val="0B1F3B"/>
              </a:solidFill>
              <a:latin typeface="Arial Unicode M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24048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بيئات عمل مسجلة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783080"/>
            <a:ext cx="2788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947672"/>
            <a:ext cx="23774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200" b="1" dirty="0">
                <a:solidFill>
                  <a:srgbClr val="0B1F3B"/>
                </a:solidFill>
                <a:latin typeface="Arial Unicode MS"/>
              </a:rPr>
              <a:t>44</a:t>
            </a:r>
            <a:endParaRPr sz="2200" b="1" dirty="0">
              <a:solidFill>
                <a:srgbClr val="0B1F3B"/>
              </a:solidFill>
              <a:latin typeface="Arial Unicode M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40480" y="24048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مستخدمون نشطون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4848" y="1783080"/>
            <a:ext cx="2788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67728" y="1947672"/>
            <a:ext cx="23774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200" b="1" dirty="0">
                <a:solidFill>
                  <a:srgbClr val="0B1F3B"/>
                </a:solidFill>
                <a:latin typeface="Arial Unicode MS"/>
              </a:rPr>
              <a:t>44</a:t>
            </a:r>
            <a:endParaRPr sz="2200" b="1" dirty="0">
              <a:solidFill>
                <a:srgbClr val="0B1F3B"/>
              </a:solidFill>
              <a:latin typeface="Arial Unicode M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67728" y="24048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تجارب نشطة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3794760"/>
            <a:ext cx="2788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959352"/>
            <a:ext cx="23774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200" b="1" dirty="0">
                <a:solidFill>
                  <a:srgbClr val="0B1F3B"/>
                </a:solidFill>
                <a:latin typeface="Arial Unicode MS"/>
              </a:rPr>
              <a:t>0</a:t>
            </a:r>
            <a:endParaRPr sz="2200" b="1" dirty="0">
              <a:solidFill>
                <a:srgbClr val="0B1F3B"/>
              </a:solidFill>
              <a:latin typeface="Arial Unicode M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44165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اشتراك مدفوع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3794760"/>
            <a:ext cx="2788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3959352"/>
            <a:ext cx="237744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US" sz="2200" b="1" dirty="0">
                <a:solidFill>
                  <a:srgbClr val="0B1F3B"/>
                </a:solidFill>
                <a:latin typeface="Arial Unicode MS"/>
              </a:rPr>
              <a:t>44</a:t>
            </a:r>
            <a:endParaRPr sz="2200" b="1" dirty="0">
              <a:solidFill>
                <a:srgbClr val="0B1F3B"/>
              </a:solidFill>
              <a:latin typeface="Arial Unicode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840480" y="44165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اشتراكات تجريبية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4848" y="3794760"/>
            <a:ext cx="27889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67728" y="3959352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22 فبراير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41655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30" b="0">
                <a:solidFill>
                  <a:srgbClr val="475569"/>
                </a:solidFill>
                <a:latin typeface="Arial Unicode MS"/>
              </a:rPr>
              <a:t>بداية الاستخدام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29800" y="1783080"/>
            <a:ext cx="1828800" cy="35204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12680" y="2011680"/>
            <a:ext cx="1463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Arial Unicode MS"/>
              </a:rPr>
              <a:t>دلالة الأرقام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468880"/>
            <a:ext cx="1371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19">
                <a:solidFill>
                  <a:srgbClr val="E2E8F0"/>
                </a:solidFill>
                <a:latin typeface="Arial Unicode MS"/>
              </a:rPr>
              <a:t>• المنتج في مرحلة إثبات التبني.</a:t>
            </a:r>
          </a:p>
          <a:p>
            <a:pPr algn="r">
              <a:spcAft>
                <a:spcPts val="600"/>
              </a:spcAft>
            </a:pPr>
            <a:r>
              <a:rPr sz="1019">
                <a:solidFill>
                  <a:srgbClr val="E2E8F0"/>
                </a:solidFill>
                <a:latin typeface="Arial Unicode MS"/>
              </a:rPr>
              <a:t>• التركيز الحالي على بناء المنتج وتثبيت الاستخدام.</a:t>
            </a:r>
          </a:p>
          <a:p>
            <a:pPr algn="r">
              <a:spcAft>
                <a:spcPts val="600"/>
              </a:spcAft>
            </a:pPr>
            <a:r>
              <a:rPr sz="1019">
                <a:solidFill>
                  <a:srgbClr val="E2E8F0"/>
                </a:solidFill>
                <a:latin typeface="Arial Unicode MS"/>
              </a:rPr>
              <a:t>• وهذا يجعل الجولة مناسبة لتمويل إثبات السوق.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1106424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dirty="0" err="1">
                <a:solidFill>
                  <a:srgbClr val="64748B"/>
                </a:solidFill>
                <a:latin typeface="Arial Unicode MS"/>
              </a:rPr>
              <a:t>لقطة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بيانات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محلية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من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النسخة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الاحتياطية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داخل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المشروع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بتاريخ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lang="en-US" sz="900" b="0" dirty="0">
                <a:solidFill>
                  <a:srgbClr val="64748B"/>
                </a:solidFill>
                <a:latin typeface="Arial Unicode MS"/>
              </a:rPr>
              <a:t>20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</a:t>
            </a:r>
            <a:r>
              <a:rPr sz="900" b="0" dirty="0" err="1">
                <a:solidFill>
                  <a:srgbClr val="64748B"/>
                </a:solidFill>
                <a:latin typeface="Arial Unicode MS"/>
              </a:rPr>
              <a:t>مارس</a:t>
            </a:r>
            <a:r>
              <a:rPr sz="900" b="0" dirty="0">
                <a:solidFill>
                  <a:srgbClr val="64748B"/>
                </a:solidFill>
                <a:latin typeface="Arial Unicode MS"/>
              </a:rPr>
              <a:t> 2026.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875520" y="164592"/>
            <a:ext cx="169164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48672" y="182879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الإيراد والميزة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7315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نموذج الإيراد وعوامل التميز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325880"/>
            <a:ext cx="5669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475569"/>
                </a:solidFill>
                <a:latin typeface="Arial Unicode MS"/>
              </a:rPr>
              <a:t>القيمة الاستثمارية تنبع من ارتباط التسعير بالاحتفاظ، والتوسع داخل الحساب، والمواءمة المحلية مع السوق.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45920"/>
            <a:ext cx="4754880" cy="38404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874519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 Unicode MS"/>
              </a:rPr>
              <a:t>الطبقات الإيرادية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2057400" cy="123444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44144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 Unicode MS"/>
              </a:rPr>
              <a:t>المحامي المستقل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432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6A34A"/>
                </a:solidFill>
                <a:latin typeface="Arial Unicode MS"/>
              </a:rPr>
              <a:t>250 ريال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1527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0">
                <a:solidFill>
                  <a:srgbClr val="CBD5E1"/>
                </a:solidFill>
                <a:latin typeface="Arial Unicode MS"/>
              </a:rPr>
              <a:t>مقعد واحد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2331720"/>
            <a:ext cx="2057400" cy="123444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36976" y="244144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 Unicode MS"/>
              </a:rPr>
              <a:t>مكتب صغير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6976" y="274320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6A34A"/>
                </a:solidFill>
                <a:latin typeface="Arial Unicode MS"/>
              </a:rPr>
              <a:t>500 ريال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3081527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0">
                <a:solidFill>
                  <a:srgbClr val="CBD5E1"/>
                </a:solidFill>
                <a:latin typeface="Arial Unicode MS"/>
              </a:rPr>
              <a:t>من 2 إلى 5 مقاعد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886200"/>
            <a:ext cx="2057400" cy="123444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9959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 Unicode MS"/>
              </a:rPr>
              <a:t>مكتب متوسط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976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6A34A"/>
                </a:solidFill>
                <a:latin typeface="Arial Unicode MS"/>
              </a:rPr>
              <a:t>750 ريال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63600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0">
                <a:solidFill>
                  <a:srgbClr val="CBD5E1"/>
                </a:solidFill>
                <a:latin typeface="Arial Unicode MS"/>
              </a:rPr>
              <a:t>من 6 إلى 10 مقاعد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27248" y="3886200"/>
            <a:ext cx="2057400" cy="1234440"/>
          </a:xfrm>
          <a:prstGeom prst="roundRect">
            <a:avLst/>
          </a:prstGeom>
          <a:solidFill>
            <a:srgbClr val="111E33"/>
          </a:solidFill>
          <a:ln w="12700">
            <a:solidFill>
              <a:srgbClr val="20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36976" y="39959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 Unicode MS"/>
              </a:rPr>
              <a:t>نسخة الشركات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42976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16A34A"/>
                </a:solidFill>
                <a:latin typeface="Arial Unicode MS"/>
              </a:rPr>
              <a:t>تسعير تفاوضي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63600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19" b="0">
                <a:solidFill>
                  <a:srgbClr val="CBD5E1"/>
                </a:solidFill>
                <a:latin typeface="Arial Unicode MS"/>
              </a:rPr>
              <a:t>من 11 إلى 30 مقعدًا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182880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97880" y="1938528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اشتراك مباشر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21284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الباقات الحالية تسمح بالتحويل المباشر من التجربة إلى الاشتراك.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301752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97880" y="3127248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نمو عبر الشركاء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40156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برنامج شركاء النجاح يحول الإحالات إلى قناة اكتساب مرتبطة بالدفع الناجح.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4206240"/>
            <a:ext cx="55778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897880" y="4315968"/>
            <a:ext cx="5120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20" b="1">
                <a:solidFill>
                  <a:srgbClr val="0B1F3B"/>
                </a:solidFill>
                <a:latin typeface="Arial Unicode MS"/>
              </a:rPr>
              <a:t>نسخة الشركات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59028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90" b="0">
                <a:solidFill>
                  <a:srgbClr val="475569"/>
                </a:solidFill>
                <a:latin typeface="Arial Unicode MS"/>
              </a:rPr>
              <a:t>ناجز ورحلات العمل المخصصة يفتحان قيمة أعلى من الباقات الذاتية.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012680" y="164592"/>
            <a:ext cx="1554480" cy="347472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85832" y="182879"/>
            <a:ext cx="14081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166534"/>
                </a:solidFill>
                <a:latin typeface="Arial Unicode MS"/>
              </a:rPr>
              <a:t>المؤسس والفريق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73152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0B1F3B"/>
                </a:solidFill>
                <a:latin typeface="Arial Unicode MS"/>
              </a:rPr>
              <a:t>القيادة الحالية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49240" y="1371600"/>
            <a:ext cx="5897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19" b="0">
                <a:solidFill>
                  <a:srgbClr val="475569"/>
                </a:solidFill>
                <a:latin typeface="Arial Unicode MS"/>
              </a:rPr>
              <a:t>المشروع يقوده المؤسس حاليًا، والتمويل المقترح هدفه توسيع الفريق وبناء مسار تجاري أكثر اتساعًا.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1691640"/>
            <a:ext cx="4800600" cy="3749039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19659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Arial Unicode MS"/>
              </a:rPr>
              <a:t>عبدالعزيز فهد عطية الحازمي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35915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A7F3D0"/>
                </a:solidFill>
                <a:latin typeface="Arial Unicode MS"/>
              </a:rPr>
              <a:t>المؤسس والمدير التنفيذي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40">
                <a:solidFill>
                  <a:srgbClr val="E2E8F0"/>
                </a:solidFill>
                <a:latin typeface="Arial Unicode MS"/>
              </a:rPr>
              <a:t>• يقود التأسيس والمنتج والتنفيذ الحالي للمشروع.</a:t>
            </a:r>
          </a:p>
          <a:p>
            <a:pPr algn="r">
              <a:spcAft>
                <a:spcPts val="600"/>
              </a:spcAft>
            </a:pPr>
            <a:r>
              <a:rPr sz="1040">
                <a:solidFill>
                  <a:srgbClr val="E2E8F0"/>
                </a:solidFill>
                <a:latin typeface="Arial Unicode MS"/>
              </a:rPr>
              <a:t>• يبني العرض الحالي على منتج فعلي ووثائق تشغيل واختبار وإطلاق.</a:t>
            </a:r>
          </a:p>
          <a:p>
            <a:pPr algn="r">
              <a:spcAft>
                <a:spcPts val="600"/>
              </a:spcAft>
            </a:pPr>
            <a:r>
              <a:rPr sz="1040">
                <a:solidFill>
                  <a:srgbClr val="E2E8F0"/>
                </a:solidFill>
                <a:latin typeface="Arial Unicode MS"/>
              </a:rPr>
              <a:t>• النموذج الحالي رشيق وعملي ومناسب لمرحلة استثمارية مبكرة.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201168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8152" y="212140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الاسم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2395728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عبدالعزيز فهد عطية الحازمي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01168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14232" y="212140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المرجعية المهنية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395728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وثيقة العمل الحر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33756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88152" y="344728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فئة التسجيل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88152" y="3721608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الخدمات التخصصية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33756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14232" y="344728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التخصص المسجل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3721608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المساعدة الإدارية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466344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88152" y="477316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سريان الوثيقة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5047488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سارية حتى 15 مارس 2027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663440"/>
            <a:ext cx="25146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14232" y="4773168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20" b="1">
                <a:solidFill>
                  <a:srgbClr val="0B1F3B"/>
                </a:solidFill>
                <a:latin typeface="Arial Unicode MS"/>
              </a:rPr>
              <a:t>الوضع الحالي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5047488"/>
            <a:ext cx="2148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40" b="0">
                <a:solidFill>
                  <a:srgbClr val="475569"/>
                </a:solidFill>
                <a:latin typeface="Arial Unicode MS"/>
              </a:rPr>
              <a:t>يقوده المؤسس ويستعد للتوسع المدروس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080760"/>
            <a:ext cx="10789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80" b="0">
                <a:solidFill>
                  <a:srgbClr val="64748B"/>
                </a:solidFill>
                <a:latin typeface="Arial Unicode MS"/>
              </a:rPr>
              <a:t>وردت بيانات وثيقة العمل الحر هنا لأغراض التعريف المهني فقط، دون عرض أي بيانات شخصية حساسة.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58400" y="164592"/>
            <a:ext cx="1417320" cy="347472"/>
          </a:xfrm>
          <a:prstGeom prst="roundRect">
            <a:avLst/>
          </a:prstGeom>
          <a:solidFill>
            <a:srgbClr val="0E2A4F"/>
          </a:solidFill>
          <a:ln w="12700">
            <a:solidFill>
              <a:srgbClr val="0E2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31552" y="182879"/>
            <a:ext cx="12710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1FAE5"/>
                </a:solidFill>
                <a:latin typeface="Arial Unicode MS"/>
              </a:rPr>
              <a:t>الطرح المقترح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74980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  <a:latin typeface="Arial Unicode MS"/>
              </a:rPr>
              <a:t>الاستثمار المقترح وأثره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572768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600" b="1">
                <a:solidFill>
                  <a:srgbClr val="16A34A"/>
                </a:solidFill>
                <a:latin typeface="Arial Unicode MS"/>
              </a:rPr>
              <a:t>2.5 مليون ريال سعودي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965960"/>
            <a:ext cx="3886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50" b="0">
                <a:solidFill>
                  <a:srgbClr val="A7F3D0"/>
                </a:solidFill>
                <a:latin typeface="Arial Unicode MS"/>
              </a:rPr>
              <a:t>أفق استثماري مستهدف لمدة 5 سنوات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2788920"/>
            <a:ext cx="5166360" cy="2743200"/>
          </a:xfrm>
          <a:prstGeom prst="roundRect">
            <a:avLst/>
          </a:prstGeom>
          <a:solidFill>
            <a:srgbClr val="101C2F"/>
          </a:solidFill>
          <a:ln w="12700">
            <a:solidFill>
              <a:srgbClr val="1F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303580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 Unicode MS"/>
              </a:rPr>
              <a:t>استخدام الأموال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747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40% تطوير المنتج والهندسة وسير العمل القانوني الذكي.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25% اكتساب العملاء الأوائل وبناء القنوات البيعية.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15% تكاملات نسخة الشركات والامتثال والتشغيل المؤسسي.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10% بنية تحتية واستضافة ودعم تشغيلي.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10% تصميم ومساندة تشغيلية وقانونية وإدارية.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788920"/>
            <a:ext cx="5669280" cy="2743200"/>
          </a:xfrm>
          <a:prstGeom prst="roundRect">
            <a:avLst/>
          </a:prstGeom>
          <a:solidFill>
            <a:srgbClr val="101C2F"/>
          </a:solidFill>
          <a:ln w="12700">
            <a:solidFill>
              <a:srgbClr val="1F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0" y="303580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Arial Unicode MS"/>
              </a:rPr>
              <a:t>المخرجات المستهدفة من التمويل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تحويل المرحلة الحالية إلى قصة تبنٍ موثقة بدل الاكتفاء بالجاهزية التقنية.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توسيع الفريق من قيادة فردية إلى نواة تنفيذية قابلة للتكرار.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إثبات قناة اكتساب أولية مع مكاتب مدفوعة ونسخة شركات قيد التفعيل.</a:t>
            </a:r>
          </a:p>
          <a:p>
            <a:pPr algn="r">
              <a:spcAft>
                <a:spcPts val="600"/>
              </a:spcAft>
            </a:pPr>
            <a:r>
              <a:rPr sz="1010">
                <a:solidFill>
                  <a:srgbClr val="E2E8F0"/>
                </a:solidFill>
                <a:latin typeface="Arial Unicode MS"/>
              </a:rPr>
              <a:t>• رفع جودة البيانات والاحتفاظ والمنتج قبل أي جولة أكبر لاحقًا.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10515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69" b="0">
                <a:solidFill>
                  <a:srgbClr val="CBD5E1"/>
                </a:solidFill>
                <a:latin typeface="Arial Unicode MS"/>
              </a:rPr>
              <a:t>يمكن تعديل مبلغ الطرح لاحقًا بحسب نوع المستثمر وهيكل الجولة، لكن هذه النسخة تقدم سيناريو عمليًا ومفهومًا للمرحلة الحالية.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73952"/>
            <a:ext cx="111556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" y="6501384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rial Unicode MS"/>
              </a:rPr>
              <a:t>مسار المحامي | عرض استثماري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01384"/>
            <a:ext cx="548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  <a:latin typeface="Arial Unicode M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761</Words>
  <Application>Microsoft Macintosh PowerPoint</Application>
  <PresentationFormat>Widescreen</PresentationFormat>
  <Paragraphs>131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Unicode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مسار المحامي</cp:lastModifiedBy>
  <cp:revision>2</cp:revision>
  <dcterms:created xsi:type="dcterms:W3CDTF">2013-01-27T09:14:16Z</dcterms:created>
  <dcterms:modified xsi:type="dcterms:W3CDTF">2026-03-20T10:57:11Z</dcterms:modified>
  <cp:category/>
</cp:coreProperties>
</file>