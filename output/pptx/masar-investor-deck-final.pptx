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0"/>
            <a:ext cx="2130552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sa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"/>
            <a:ext cx="914400" cy="609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46304"/>
            <a:ext cx="1463040" cy="347472"/>
          </a:xfrm>
          <a:prstGeom prst="roundRect">
            <a:avLst/>
          </a:prstGeom>
          <a:solidFill>
            <a:srgbClr val="0E2A4F"/>
          </a:solidFill>
          <a:ln w="12700">
            <a:solidFill>
              <a:srgbClr val="0E2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164592"/>
            <a:ext cx="13167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1FAE5"/>
                </a:solidFill>
                <a:latin typeface="Arial Unicode MS"/>
              </a:rPr>
              <a:t>عرض استثماري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23444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3000" b="1">
                <a:solidFill>
                  <a:srgbClr val="FFFFFF"/>
                </a:solidFill>
                <a:latin typeface="Arial Unicode MS"/>
              </a:rPr>
              <a:t>مسار المحامي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783080"/>
            <a:ext cx="5852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0">
                <a:solidFill>
                  <a:srgbClr val="F1F5F9"/>
                </a:solidFill>
                <a:latin typeface="Arial Unicode MS"/>
              </a:rPr>
              <a:t>منصة عربية متخصصة لإدارة وتشغيل مكاتب المحاماة داخل السوق السعودي.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880360"/>
            <a:ext cx="6080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20" b="0">
                <a:solidFill>
                  <a:srgbClr val="CBD5E1"/>
                </a:solidFill>
                <a:latin typeface="Arial Unicode MS"/>
              </a:rPr>
              <a:t>عرض مبني على ما هو موجود فعليًا داخل المنتج: إدارة القضايا والعملاء والمستندات والفوترة، ولوحة إدارة عامة على النظام، وطلبات اشتراك، وتكاملات ناجز، وشركاء النجاح.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663440"/>
            <a:ext cx="2651760" cy="1234440"/>
          </a:xfrm>
          <a:prstGeom prst="roundRect">
            <a:avLst/>
          </a:prstGeom>
          <a:solidFill>
            <a:srgbClr val="0F1F37"/>
          </a:solidFill>
          <a:ln w="12700">
            <a:solidFill>
              <a:srgbClr val="18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828032"/>
            <a:ext cx="232257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50" b="1">
                <a:solidFill>
                  <a:srgbClr val="16A34A"/>
                </a:solidFill>
                <a:latin typeface="Arial Unicode MS"/>
              </a:rPr>
              <a:t>النظام الأساسي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38928"/>
            <a:ext cx="232257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CBD5E1"/>
                </a:solidFill>
                <a:latin typeface="Arial Unicode MS"/>
              </a:rPr>
              <a:t>قضايا وعملاء ومستندات ومهام وفوترة من منصة واحدة.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4663440"/>
            <a:ext cx="2651760" cy="1234440"/>
          </a:xfrm>
          <a:prstGeom prst="roundRect">
            <a:avLst/>
          </a:prstGeom>
          <a:solidFill>
            <a:srgbClr val="0F1F37"/>
          </a:solidFill>
          <a:ln w="12700">
            <a:solidFill>
              <a:srgbClr val="18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4828032"/>
            <a:ext cx="232257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50" b="1">
                <a:solidFill>
                  <a:srgbClr val="16A34A"/>
                </a:solidFill>
                <a:latin typeface="Arial Unicode MS"/>
              </a:rPr>
              <a:t>لوحة الإدارة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5138928"/>
            <a:ext cx="232257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CBD5E1"/>
                </a:solidFill>
                <a:latin typeface="Arial Unicode MS"/>
              </a:rPr>
              <a:t>إحصائيات مباشرة، مكاتب، مستخدمون، وطلبات اشتراك.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4663440"/>
            <a:ext cx="2651760" cy="1234440"/>
          </a:xfrm>
          <a:prstGeom prst="roundRect">
            <a:avLst/>
          </a:prstGeom>
          <a:solidFill>
            <a:srgbClr val="0F1F37"/>
          </a:solidFill>
          <a:ln w="12700">
            <a:solidFill>
              <a:srgbClr val="18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4828032"/>
            <a:ext cx="232257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50" b="1">
                <a:solidFill>
                  <a:srgbClr val="16A34A"/>
                </a:solidFill>
                <a:latin typeface="Arial Unicode MS"/>
              </a:rPr>
              <a:t>التوسع الحالي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5138928"/>
            <a:ext cx="232257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CBD5E1"/>
                </a:solidFill>
                <a:latin typeface="Arial Unicode MS"/>
              </a:rPr>
              <a:t>ناجز، شركاء النجاح، ونسخة شركات للباقات الأعلى قيمة.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501384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 Unicode MS"/>
              </a:rPr>
              <a:t>مسار المحامي | عرض استثماري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01384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rial Unicode MS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66960" y="164592"/>
            <a:ext cx="1600200" cy="34747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40112" y="182879"/>
            <a:ext cx="1453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66534"/>
                </a:solidFill>
                <a:latin typeface="Arial Unicode MS"/>
              </a:rPr>
              <a:t>المشكلة والفرصة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2280" y="73152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200" b="1">
                <a:solidFill>
                  <a:srgbClr val="0B1F3B"/>
                </a:solidFill>
                <a:latin typeface="Arial Unicode MS"/>
              </a:rPr>
              <a:t>لماذا يستحق هذا السوق حلًا متخصصًا؟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325880"/>
            <a:ext cx="5806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80" b="0">
                <a:solidFill>
                  <a:srgbClr val="475569"/>
                </a:solidFill>
                <a:latin typeface="Arial Unicode MS"/>
              </a:rPr>
              <a:t>القيمة لا تكمن في رقمنة أداة واحدة، بل في تحويل المكتب كاملًا إلى نظام تشغيلي منضبط.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627632"/>
            <a:ext cx="507492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1874519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0B1F3B"/>
                </a:solidFill>
                <a:latin typeface="Arial Unicode MS"/>
              </a:rPr>
              <a:t>الأطروحة الاستثمارية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4480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50">
                <a:solidFill>
                  <a:srgbClr val="475569"/>
                </a:solidFill>
                <a:latin typeface="Arial Unicode MS"/>
              </a:rPr>
              <a:t>• الفئة القانونية حساسة وتحتاج ثقة وصلاحيات وعزل بيانات من البداية.</a:t>
            </a:r>
          </a:p>
          <a:p>
            <a:pPr algn="r">
              <a:spcAft>
                <a:spcPts val="600"/>
              </a:spcAft>
            </a:pPr>
            <a:r>
              <a:rPr sz="1050">
                <a:solidFill>
                  <a:srgbClr val="475569"/>
                </a:solidFill>
                <a:latin typeface="Arial Unicode MS"/>
              </a:rPr>
              <a:t>• الأدوات العامة لا تعكس اللغة التشغيلية المحلية ولا تكاملات السوق السعودي.</a:t>
            </a:r>
          </a:p>
          <a:p>
            <a:pPr algn="r">
              <a:spcAft>
                <a:spcPts val="600"/>
              </a:spcAft>
            </a:pPr>
            <a:r>
              <a:rPr sz="1050">
                <a:solidFill>
                  <a:srgbClr val="475569"/>
                </a:solidFill>
                <a:latin typeface="Arial Unicode MS"/>
              </a:rPr>
              <a:t>• المنتج الحالي تجاوز مرحلة الفكرة إلى قاعدة جاهزة لاختبار السوق والاحتفاظ.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4389120"/>
            <a:ext cx="5257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4498848"/>
            <a:ext cx="4754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50" b="1">
                <a:solidFill>
                  <a:srgbClr val="0B1F3B"/>
                </a:solidFill>
                <a:latin typeface="Arial Unicode MS"/>
              </a:rPr>
              <a:t>الشريحة المستهدفة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477316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10" b="0">
                <a:solidFill>
                  <a:srgbClr val="475569"/>
                </a:solidFill>
                <a:latin typeface="Arial Unicode MS"/>
              </a:rPr>
              <a:t>مكاتب المحاماة الصغيرة والمتوسطة أولًا، ثم نسخة الشركات الأعلى قيمة.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017520"/>
            <a:ext cx="5257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127248"/>
            <a:ext cx="4754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50" b="1">
                <a:solidFill>
                  <a:srgbClr val="0B1F3B"/>
                </a:solidFill>
                <a:latin typeface="Arial Unicode MS"/>
              </a:rPr>
              <a:t>مبررات التوقيت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40156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10" b="0">
                <a:solidFill>
                  <a:srgbClr val="475569"/>
                </a:solidFill>
                <a:latin typeface="Arial Unicode MS"/>
              </a:rPr>
              <a:t>النسخة الحالية تملك منتجًا فعليًا، وتسعيرًا جاهزًا، ووثائق إطلاق وتشغيل.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645920"/>
            <a:ext cx="5257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755648"/>
            <a:ext cx="4754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50" b="1">
                <a:solidFill>
                  <a:srgbClr val="0B1F3B"/>
                </a:solidFill>
                <a:latin typeface="Arial Unicode MS"/>
              </a:rPr>
              <a:t>النتيجة الاستثمارية القريبة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02996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10" b="0">
                <a:solidFill>
                  <a:srgbClr val="475569"/>
                </a:solidFill>
                <a:latin typeface="Arial Unicode MS"/>
              </a:rPr>
              <a:t>الانتقال من الجاهزية التقنية إلى إثبات التبني والإيراد داخل السوق.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501384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 Unicode MS"/>
              </a:rPr>
              <a:t>مسار المحامي | عرض استثماري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01384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rial Unicode MS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32720" y="164592"/>
            <a:ext cx="1188720" cy="34747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05872" y="182879"/>
            <a:ext cx="1042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66534"/>
                </a:solidFill>
                <a:latin typeface="Arial Unicode MS"/>
              </a:rPr>
              <a:t>ما بُني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35240" y="73152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200" b="1">
                <a:solidFill>
                  <a:srgbClr val="0B1F3B"/>
                </a:solidFill>
                <a:latin typeface="Arial Unicode MS"/>
              </a:rPr>
              <a:t>مكونات الحل الحالية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40680" y="1325880"/>
            <a:ext cx="5897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475569"/>
                </a:solidFill>
                <a:latin typeface="Arial Unicode MS"/>
              </a:rPr>
              <a:t>المحتوى أدناه يعكس الوحدات الظاهرة فعليًا داخل التطبيق ولوحة الإدارة، لا تصورات مستقبلية بعيدة.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920240"/>
            <a:ext cx="53035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066544"/>
            <a:ext cx="4754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20" b="1">
                <a:solidFill>
                  <a:srgbClr val="0B1F3B"/>
                </a:solidFill>
                <a:latin typeface="Arial Unicode MS"/>
              </a:rPr>
              <a:t>تشغيل المكتب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395728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90" b="0">
                <a:solidFill>
                  <a:srgbClr val="475569"/>
                </a:solidFill>
                <a:latin typeface="Arial Unicode MS"/>
              </a:rPr>
              <a:t>العملاء والقضايا والمستندات والمهام داخل مسار عمل واحد، مع الفوترة والعروض والمتابعة.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920240"/>
            <a:ext cx="53035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2066544"/>
            <a:ext cx="4754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20" b="1">
                <a:solidFill>
                  <a:srgbClr val="0B1F3B"/>
                </a:solidFill>
                <a:latin typeface="Arial Unicode MS"/>
              </a:rPr>
              <a:t>لوحة الإدارة العامة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2395728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90" b="0">
                <a:solidFill>
                  <a:srgbClr val="475569"/>
                </a:solidFill>
                <a:latin typeface="Arial Unicode MS"/>
              </a:rPr>
              <a:t>نظرة عامة على النظام مع بطاقات مباشرة للمكاتب والمستخدمين والاشتراكات والنسخ التجريبية.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4041648"/>
            <a:ext cx="53035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19" y="4187952"/>
            <a:ext cx="4754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20" b="1">
                <a:solidFill>
                  <a:srgbClr val="0B1F3B"/>
                </a:solidFill>
                <a:latin typeface="Arial Unicode MS"/>
              </a:rPr>
              <a:t>الإدارة المركزية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4517136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90" b="0">
                <a:solidFill>
                  <a:srgbClr val="475569"/>
                </a:solidFill>
                <a:latin typeface="Arial Unicode MS"/>
              </a:rPr>
              <a:t>طلبات الاشتراك، المستخدمون، المكاتب، وسجل التدقيق، مع انتقال مباشر بين التبويبات الإدارية.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4041648"/>
            <a:ext cx="53035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4187952"/>
            <a:ext cx="4754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20" b="1">
                <a:solidFill>
                  <a:srgbClr val="0B1F3B"/>
                </a:solidFill>
                <a:latin typeface="Arial Unicode MS"/>
              </a:rPr>
              <a:t>التكامل والتوسع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4517136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90" b="0">
                <a:solidFill>
                  <a:srgbClr val="475569"/>
                </a:solidFill>
                <a:latin typeface="Arial Unicode MS"/>
              </a:rPr>
              <a:t>تكامل ناجز، تبويب شركاء النجاح، وبنية جاهزة للباقات الأعلى قيمة.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501384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 Unicode MS"/>
              </a:rPr>
              <a:t>مسار المحامي | عرض استثماري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01384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rial Unicode MS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464040" y="164592"/>
            <a:ext cx="2103120" cy="34747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37192" y="182879"/>
            <a:ext cx="19568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66534"/>
                </a:solidFill>
                <a:latin typeface="Arial Unicode MS"/>
              </a:rPr>
              <a:t>نظرة عامة على النظام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749808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200" b="1">
                <a:solidFill>
                  <a:srgbClr val="0B1F3B"/>
                </a:solidFill>
                <a:latin typeface="Arial Unicode MS"/>
              </a:rPr>
              <a:t>إحصائيات مباشرة من لوحة الإدارة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353312"/>
            <a:ext cx="6766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30" b="0">
                <a:solidFill>
                  <a:srgbClr val="475569"/>
                </a:solidFill>
                <a:latin typeface="Arial Unicode MS"/>
              </a:rPr>
              <a:t>الأرقام التالية مأخوذة من لوحة الإدارة داخل المنصة، وتعكس ما يراه مدير الموقع فعليًا في النسخة الحالية خلال آخر 30 يومًا.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965960"/>
            <a:ext cx="263347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13055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100" b="1">
                <a:solidFill>
                  <a:srgbClr val="0B1F3B"/>
                </a:solidFill>
                <a:latin typeface="Arial Unicode MS"/>
              </a:rPr>
              <a:t>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58775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19" b="0">
                <a:solidFill>
                  <a:srgbClr val="475569"/>
                </a:solidFill>
                <a:latin typeface="Arial Unicode MS"/>
              </a:rPr>
              <a:t>إجمالي المكاتب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965960"/>
            <a:ext cx="263347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213055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100" b="1">
                <a:solidFill>
                  <a:srgbClr val="0B1F3B"/>
                </a:solidFill>
                <a:latin typeface="Arial Unicode MS"/>
              </a:rPr>
              <a:t>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58775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19" b="0">
                <a:solidFill>
                  <a:srgbClr val="475569"/>
                </a:solidFill>
                <a:latin typeface="Arial Unicode MS"/>
              </a:rPr>
              <a:t>إجمالي المستخدمين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1965960"/>
            <a:ext cx="263347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13055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100" b="1">
                <a:solidFill>
                  <a:srgbClr val="0B1F3B"/>
                </a:solidFill>
                <a:latin typeface="Arial Unicode M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58775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19" b="0">
                <a:solidFill>
                  <a:srgbClr val="475569"/>
                </a:solidFill>
                <a:latin typeface="Arial Unicode MS"/>
              </a:rPr>
              <a:t>الاشتراكات الفعالة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1965960"/>
            <a:ext cx="263347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7464" y="213055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100" b="1">
                <a:solidFill>
                  <a:srgbClr val="0B1F3B"/>
                </a:solidFill>
                <a:latin typeface="Arial Unicode MS"/>
              </a:rPr>
              <a:t>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7464" y="258775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19" b="0">
                <a:solidFill>
                  <a:srgbClr val="475569"/>
                </a:solidFill>
                <a:latin typeface="Arial Unicode MS"/>
              </a:rPr>
              <a:t>النسخ التجريبية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767328"/>
            <a:ext cx="5532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3008" y="3950208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20" b="1">
                <a:solidFill>
                  <a:srgbClr val="0B1F3B"/>
                </a:solidFill>
                <a:latin typeface="Arial Unicode MS"/>
              </a:rPr>
              <a:t>إدارة الفرق والمكاتب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61104"/>
            <a:ext cx="48463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40" b="0">
                <a:solidFill>
                  <a:srgbClr val="475569"/>
                </a:solidFill>
                <a:latin typeface="Arial Unicode MS"/>
              </a:rPr>
              <a:t>لوحة الإدارة تعرض أيضًا عدد فريق العمل لكل مكتب، مع حالة كل مكتب وإمكانية الانتقال مباشرة إلى تبويب المكاتب.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767328"/>
            <a:ext cx="546811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3950208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20" b="1">
                <a:solidFill>
                  <a:srgbClr val="0B1F3B"/>
                </a:solidFill>
                <a:latin typeface="Arial Unicode MS"/>
              </a:rPr>
              <a:t>تبويبات تشغيلية فعلية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261104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40" b="0">
                <a:solidFill>
                  <a:srgbClr val="475569"/>
                </a:solidFill>
                <a:latin typeface="Arial Unicode MS"/>
              </a:rPr>
              <a:t>تضم الواجهة الحالية: طلبات الاشتراك، المستخدمين، المكاتب، ناجز، شركاء النجاح، وسجل التدقيق.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" y="5138928"/>
            <a:ext cx="1110996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13248"/>
            <a:ext cx="10378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E2E8F0"/>
                </a:solidFill>
                <a:latin typeface="Arial Unicode MS"/>
              </a:rPr>
              <a:t>القراءة الاستثمارية: هذه مؤشرات تشغيلية حية من داخل النظام نفسه، وهي أقرب دليل على وجود منتج فعلي قيد الاستخدام، لا مجرد عرض نظري فقط.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99632"/>
            <a:ext cx="11064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60" b="0">
                <a:solidFill>
                  <a:srgbClr val="64748B"/>
                </a:solidFill>
                <a:latin typeface="Arial Unicode MS"/>
              </a:rPr>
              <a:t>إحصائيات مباشرة من لوحة الإدارة داخل المنصة كما ظهرت في اللقطة المرفقة (آخر 30 يوم).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6501384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 Unicode MS"/>
              </a:rPr>
              <a:t>مسار المحامي | عرض استثماري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01384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rial Unicode MS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75520" y="164592"/>
            <a:ext cx="1691640" cy="34747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48672" y="182879"/>
            <a:ext cx="1545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66534"/>
                </a:solidFill>
                <a:latin typeface="Arial Unicode MS"/>
              </a:rPr>
              <a:t>الإيراد والميزة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73152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200" b="1">
                <a:solidFill>
                  <a:srgbClr val="0B1F3B"/>
                </a:solidFill>
                <a:latin typeface="Arial Unicode MS"/>
              </a:rPr>
              <a:t>نموذج الإيراد وعوامل التميز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325880"/>
            <a:ext cx="5669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475569"/>
                </a:solidFill>
                <a:latin typeface="Arial Unicode MS"/>
              </a:rPr>
              <a:t>القيمة الاستثمارية تنبع من ارتباط التسعير بالاحتفاظ، والتوسع داخل الحساب، والمواءمة المحلية مع السوق.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691640"/>
            <a:ext cx="4572000" cy="3657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19019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  <a:latin typeface="Arial Unicode MS"/>
              </a:rPr>
              <a:t>التسعير الحالي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267712"/>
            <a:ext cx="1920240" cy="1152144"/>
          </a:xfrm>
          <a:prstGeom prst="roundRect">
            <a:avLst/>
          </a:prstGeom>
          <a:solidFill>
            <a:srgbClr val="111E33"/>
          </a:solidFill>
          <a:ln w="12700">
            <a:solidFill>
              <a:srgbClr val="20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377440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50" b="1">
                <a:solidFill>
                  <a:srgbClr val="FFFFFF"/>
                </a:solidFill>
                <a:latin typeface="Arial Unicode MS"/>
              </a:rPr>
              <a:t>المحامي المستقل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660904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16A34A"/>
                </a:solidFill>
                <a:latin typeface="Arial Unicode MS"/>
              </a:rPr>
              <a:t>250 ريال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999232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80" b="0">
                <a:solidFill>
                  <a:srgbClr val="CBD5E1"/>
                </a:solidFill>
                <a:latin typeface="Arial Unicode MS"/>
              </a:rPr>
              <a:t>مقعد واحد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4368" y="2267712"/>
            <a:ext cx="1920240" cy="1152144"/>
          </a:xfrm>
          <a:prstGeom prst="roundRect">
            <a:avLst/>
          </a:prstGeom>
          <a:solidFill>
            <a:srgbClr val="111E33"/>
          </a:solidFill>
          <a:ln w="12700">
            <a:solidFill>
              <a:srgbClr val="20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54096" y="2377440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50" b="1">
                <a:solidFill>
                  <a:srgbClr val="FFFFFF"/>
                </a:solidFill>
                <a:latin typeface="Arial Unicode MS"/>
              </a:rPr>
              <a:t>مكتب صغير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4096" y="2660904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16A34A"/>
                </a:solidFill>
                <a:latin typeface="Arial Unicode MS"/>
              </a:rPr>
              <a:t>500 ريال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4096" y="2999232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80" b="0">
                <a:solidFill>
                  <a:srgbClr val="CBD5E1"/>
                </a:solidFill>
                <a:latin typeface="Arial Unicode MS"/>
              </a:rPr>
              <a:t>من 2 إلى 5 مقاعد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730752"/>
            <a:ext cx="1920240" cy="1152144"/>
          </a:xfrm>
          <a:prstGeom prst="roundRect">
            <a:avLst/>
          </a:prstGeom>
          <a:solidFill>
            <a:srgbClr val="111E33"/>
          </a:solidFill>
          <a:ln w="12700">
            <a:solidFill>
              <a:srgbClr val="20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840480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50" b="1">
                <a:solidFill>
                  <a:srgbClr val="FFFFFF"/>
                </a:solidFill>
                <a:latin typeface="Arial Unicode MS"/>
              </a:rPr>
              <a:t>مكتب متوسط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123944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16A34A"/>
                </a:solidFill>
                <a:latin typeface="Arial Unicode MS"/>
              </a:rPr>
              <a:t>750 ريال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462272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80" b="0">
                <a:solidFill>
                  <a:srgbClr val="CBD5E1"/>
                </a:solidFill>
                <a:latin typeface="Arial Unicode MS"/>
              </a:rPr>
              <a:t>من 6 إلى 10 مقاعد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44368" y="3730752"/>
            <a:ext cx="1920240" cy="1152144"/>
          </a:xfrm>
          <a:prstGeom prst="roundRect">
            <a:avLst/>
          </a:prstGeom>
          <a:solidFill>
            <a:srgbClr val="111E33"/>
          </a:solidFill>
          <a:ln w="12700">
            <a:solidFill>
              <a:srgbClr val="20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54096" y="3840480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50" b="1">
                <a:solidFill>
                  <a:srgbClr val="FFFFFF"/>
                </a:solidFill>
                <a:latin typeface="Arial Unicode MS"/>
              </a:rPr>
              <a:t>نسخة الشركات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54096" y="4123944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16A34A"/>
                </a:solidFill>
                <a:latin typeface="Arial Unicode MS"/>
              </a:rPr>
              <a:t>تسعير تفاوضي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54096" y="4462272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80" b="0">
                <a:solidFill>
                  <a:srgbClr val="CBD5E1"/>
                </a:solidFill>
                <a:latin typeface="Arial Unicode MS"/>
              </a:rPr>
              <a:t>من 11 إلى 30 مقعدًا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32120" y="1874519"/>
            <a:ext cx="5806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2057400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50" b="1">
                <a:solidFill>
                  <a:srgbClr val="0B1F3B"/>
                </a:solidFill>
                <a:latin typeface="Arial Unicode MS"/>
              </a:rPr>
              <a:t>مسارات النمو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2395728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80">
                <a:solidFill>
                  <a:srgbClr val="475569"/>
                </a:solidFill>
                <a:latin typeface="Arial Unicode MS"/>
              </a:rPr>
              <a:t>• اشتراك مباشر منخفض الاحتكاك عبر الباقات الحالية.</a:t>
            </a:r>
          </a:p>
          <a:p>
            <a:pPr algn="r">
              <a:spcAft>
                <a:spcPts val="600"/>
              </a:spcAft>
            </a:pPr>
            <a:r>
              <a:rPr sz="980">
                <a:solidFill>
                  <a:srgbClr val="475569"/>
                </a:solidFill>
                <a:latin typeface="Arial Unicode MS"/>
              </a:rPr>
              <a:t>• نمو عبر الشركاء والإحالات المرتبطة بالدفع الناجح.</a:t>
            </a:r>
          </a:p>
          <a:p>
            <a:pPr algn="r">
              <a:spcAft>
                <a:spcPts val="600"/>
              </a:spcAft>
            </a:pPr>
            <a:r>
              <a:rPr sz="980">
                <a:solidFill>
                  <a:srgbClr val="475569"/>
                </a:solidFill>
                <a:latin typeface="Arial Unicode MS"/>
              </a:rPr>
              <a:t>• نسخة الشركات تفتح قيمة أعلى من الباقات الذاتية.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32120" y="3657600"/>
            <a:ext cx="58064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3840480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50" b="1">
                <a:solidFill>
                  <a:srgbClr val="0B1F3B"/>
                </a:solidFill>
                <a:latin typeface="Arial Unicode MS"/>
              </a:rPr>
              <a:t>عوامل التميز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4178808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80">
                <a:solidFill>
                  <a:srgbClr val="475569"/>
                </a:solidFill>
                <a:latin typeface="Arial Unicode MS"/>
              </a:rPr>
              <a:t>• واجهة عربية أصلية ولغة تشغيلية ملائمة للسوق.</a:t>
            </a:r>
          </a:p>
          <a:p>
            <a:pPr algn="r">
              <a:spcAft>
                <a:spcPts val="600"/>
              </a:spcAft>
            </a:pPr>
            <a:r>
              <a:rPr sz="980">
                <a:solidFill>
                  <a:srgbClr val="475569"/>
                </a:solidFill>
                <a:latin typeface="Arial Unicode MS"/>
              </a:rPr>
              <a:t>• عزل بيانات وصلاحيات وتكامل محلي يزيد صعوبة الاستبدال.</a:t>
            </a:r>
          </a:p>
          <a:p>
            <a:pPr algn="r">
              <a:spcAft>
                <a:spcPts val="600"/>
              </a:spcAft>
            </a:pPr>
            <a:r>
              <a:rPr sz="980">
                <a:solidFill>
                  <a:srgbClr val="475569"/>
                </a:solidFill>
                <a:latin typeface="Arial Unicode MS"/>
              </a:rPr>
              <a:t>• ترابط التشغيل والفوترة والبوابة يرفع الاحتفاظ داخل الحساب.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6501384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 Unicode MS"/>
              </a:rPr>
              <a:t>مسار المحامي | عرض استثماري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01384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rial Unicode MS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12680" y="164592"/>
            <a:ext cx="1554480" cy="34747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5832" y="182879"/>
            <a:ext cx="14081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66534"/>
                </a:solidFill>
                <a:latin typeface="Arial Unicode MS"/>
              </a:rPr>
              <a:t>المؤسس والفريق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731520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200" b="1">
                <a:solidFill>
                  <a:srgbClr val="0B1F3B"/>
                </a:solidFill>
                <a:latin typeface="Arial Unicode MS"/>
              </a:rPr>
              <a:t>القيادة الحالية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49240" y="1371600"/>
            <a:ext cx="5897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19" b="0">
                <a:solidFill>
                  <a:srgbClr val="475569"/>
                </a:solidFill>
                <a:latin typeface="Arial Unicode MS"/>
              </a:rPr>
              <a:t>المشروع يقوده المؤسس حاليًا، والتمويل المقترح هدفه توسيع الفريق وبناء مسار تجاري أكثر اتساعًا.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691640"/>
            <a:ext cx="4800600" cy="3749039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9659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Arial Unicode MS"/>
              </a:rPr>
              <a:t>عبدالعزيز فهد عطية الحازمي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359152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7F3D0"/>
                </a:solidFill>
                <a:latin typeface="Arial Unicode MS"/>
              </a:rPr>
              <a:t>المؤسس والمدير التنفيذي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40">
                <a:solidFill>
                  <a:srgbClr val="E2E8F0"/>
                </a:solidFill>
                <a:latin typeface="Arial Unicode MS"/>
              </a:rPr>
              <a:t>• يقود التأسيس والمنتج والتنفيذ الحالي للمشروع.</a:t>
            </a:r>
          </a:p>
          <a:p>
            <a:pPr algn="r">
              <a:spcAft>
                <a:spcPts val="600"/>
              </a:spcAft>
            </a:pPr>
            <a:r>
              <a:rPr sz="1040">
                <a:solidFill>
                  <a:srgbClr val="E2E8F0"/>
                </a:solidFill>
                <a:latin typeface="Arial Unicode MS"/>
              </a:rPr>
              <a:t>• يبني العرض الحالي على منتج فعلي ووثائق تشغيل واختبار وإطلاق.</a:t>
            </a:r>
          </a:p>
          <a:p>
            <a:pPr algn="r">
              <a:spcAft>
                <a:spcPts val="600"/>
              </a:spcAft>
            </a:pPr>
            <a:r>
              <a:rPr sz="1040">
                <a:solidFill>
                  <a:srgbClr val="E2E8F0"/>
                </a:solidFill>
                <a:latin typeface="Arial Unicode MS"/>
              </a:rPr>
              <a:t>• النموذج الحالي رشيق وعملي ومناسب لمرحلة استثمارية مبكرة.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2148840"/>
            <a:ext cx="254203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33872" y="2276856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20" b="1">
                <a:solidFill>
                  <a:srgbClr val="0B1F3B"/>
                </a:solidFill>
                <a:latin typeface="Arial Unicode MS"/>
              </a:rPr>
              <a:t>المرجعية المهنية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3872" y="2606040"/>
            <a:ext cx="2148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475569"/>
                </a:solidFill>
                <a:latin typeface="Arial Unicode MS"/>
              </a:rPr>
              <a:t>وثيقة العمل الحر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2148840"/>
            <a:ext cx="254203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4232" y="2276856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20" b="1">
                <a:solidFill>
                  <a:srgbClr val="0B1F3B"/>
                </a:solidFill>
                <a:latin typeface="Arial Unicode MS"/>
              </a:rPr>
              <a:t>التخصص المسجل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14232" y="2606040"/>
            <a:ext cx="2148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475569"/>
                </a:solidFill>
                <a:latin typeface="Arial Unicode MS"/>
              </a:rPr>
              <a:t>المساعدة الإدارية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3675887"/>
            <a:ext cx="254203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33872" y="3803903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20" b="1">
                <a:solidFill>
                  <a:srgbClr val="0B1F3B"/>
                </a:solidFill>
                <a:latin typeface="Arial Unicode MS"/>
              </a:rPr>
              <a:t>سريان الوثيقة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872" y="4133087"/>
            <a:ext cx="2148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475569"/>
                </a:solidFill>
                <a:latin typeface="Arial Unicode MS"/>
              </a:rPr>
              <a:t>سارية حتى 15 مارس 2027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3675887"/>
            <a:ext cx="254203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3803903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20" b="1">
                <a:solidFill>
                  <a:srgbClr val="0B1F3B"/>
                </a:solidFill>
                <a:latin typeface="Arial Unicode MS"/>
              </a:rPr>
              <a:t>وضع المشروع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4232" y="4133087"/>
            <a:ext cx="2148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475569"/>
                </a:solidFill>
                <a:latin typeface="Arial Unicode MS"/>
              </a:rPr>
              <a:t>يقوده المؤسس ويستعد للتوسع المدروس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080760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80" b="0">
                <a:solidFill>
                  <a:srgbClr val="64748B"/>
                </a:solidFill>
                <a:latin typeface="Arial Unicode MS"/>
              </a:rPr>
              <a:t>وردت بيانات وثيقة العمل الحر هنا لأغراض التعريف المهني فقط، دون عرض أي بيانات شخصية حساسة.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6501384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 Unicode MS"/>
              </a:rPr>
              <a:t>مسار المحامي | عرض استثماري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01384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rial Unicode MS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164592"/>
            <a:ext cx="1417320" cy="347472"/>
          </a:xfrm>
          <a:prstGeom prst="roundRect">
            <a:avLst/>
          </a:prstGeom>
          <a:solidFill>
            <a:srgbClr val="0E2A4F"/>
          </a:solidFill>
          <a:ln w="12700">
            <a:solidFill>
              <a:srgbClr val="0E2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31552" y="182879"/>
            <a:ext cx="12710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1FAE5"/>
                </a:solidFill>
                <a:latin typeface="Arial Unicode MS"/>
              </a:rPr>
              <a:t>الطرح المقترح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5160" y="749808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Arial Unicode MS"/>
              </a:rPr>
              <a:t>الاستثمار المقترح وأثره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57276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600" b="1">
                <a:solidFill>
                  <a:srgbClr val="16A34A"/>
                </a:solidFill>
                <a:latin typeface="Arial Unicode MS"/>
              </a:rPr>
              <a:t>2.5 مليون ريال سعودي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1965960"/>
            <a:ext cx="3886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50" b="0">
                <a:solidFill>
                  <a:srgbClr val="A7F3D0"/>
                </a:solidFill>
                <a:latin typeface="Arial Unicode MS"/>
              </a:rPr>
              <a:t>أفق استثماري مستهدف لمدة 5 سنوات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788920"/>
            <a:ext cx="5166360" cy="2743200"/>
          </a:xfrm>
          <a:prstGeom prst="roundRect">
            <a:avLst/>
          </a:prstGeom>
          <a:solidFill>
            <a:srgbClr val="101C2F"/>
          </a:solidFill>
          <a:ln w="12700">
            <a:solidFill>
              <a:srgbClr val="1F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303580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  <a:latin typeface="Arial Unicode MS"/>
              </a:rPr>
              <a:t>استخدام الأموال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7472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10">
                <a:solidFill>
                  <a:srgbClr val="E2E8F0"/>
                </a:solidFill>
                <a:latin typeface="Arial Unicode MS"/>
              </a:rPr>
              <a:t>• 40% تطوير المنتج والهندسة وسير العمل القانوني الذكي.</a:t>
            </a:r>
          </a:p>
          <a:p>
            <a:pPr algn="r">
              <a:spcAft>
                <a:spcPts val="600"/>
              </a:spcAft>
            </a:pPr>
            <a:r>
              <a:rPr sz="1010">
                <a:solidFill>
                  <a:srgbClr val="E2E8F0"/>
                </a:solidFill>
                <a:latin typeface="Arial Unicode MS"/>
              </a:rPr>
              <a:t>• 25% اكتساب العملاء الأوائل وبناء القنوات البيعية.</a:t>
            </a:r>
          </a:p>
          <a:p>
            <a:pPr algn="r">
              <a:spcAft>
                <a:spcPts val="600"/>
              </a:spcAft>
            </a:pPr>
            <a:r>
              <a:rPr sz="1010">
                <a:solidFill>
                  <a:srgbClr val="E2E8F0"/>
                </a:solidFill>
                <a:latin typeface="Arial Unicode MS"/>
              </a:rPr>
              <a:t>• 15% تكاملات نسخة الشركات والامتثال والتشغيل المؤسسي.</a:t>
            </a:r>
          </a:p>
          <a:p>
            <a:pPr algn="r">
              <a:spcAft>
                <a:spcPts val="600"/>
              </a:spcAft>
            </a:pPr>
            <a:r>
              <a:rPr sz="1010">
                <a:solidFill>
                  <a:srgbClr val="E2E8F0"/>
                </a:solidFill>
                <a:latin typeface="Arial Unicode MS"/>
              </a:rPr>
              <a:t>• 10% بنية تحتية واستضافة ودعم تشغيلي.</a:t>
            </a:r>
          </a:p>
          <a:p>
            <a:pPr algn="r">
              <a:spcAft>
                <a:spcPts val="600"/>
              </a:spcAft>
            </a:pPr>
            <a:r>
              <a:rPr sz="1010">
                <a:solidFill>
                  <a:srgbClr val="E2E8F0"/>
                </a:solidFill>
                <a:latin typeface="Arial Unicode MS"/>
              </a:rPr>
              <a:t>• 10% تصميم ومساندة تشغيلية وقانونية وإدارية.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788920"/>
            <a:ext cx="5669280" cy="2743200"/>
          </a:xfrm>
          <a:prstGeom prst="roundRect">
            <a:avLst/>
          </a:prstGeom>
          <a:solidFill>
            <a:srgbClr val="101C2F"/>
          </a:solidFill>
          <a:ln w="12700">
            <a:solidFill>
              <a:srgbClr val="1F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303580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  <a:latin typeface="Arial Unicode MS"/>
              </a:rPr>
              <a:t>المخرجات المستهدفة من التمويل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10">
                <a:solidFill>
                  <a:srgbClr val="E2E8F0"/>
                </a:solidFill>
                <a:latin typeface="Arial Unicode MS"/>
              </a:rPr>
              <a:t>• تحويل المرحلة الحالية إلى قصة تبنٍ موثقة بدل الاكتفاء بالجاهزية التقنية.</a:t>
            </a:r>
          </a:p>
          <a:p>
            <a:pPr algn="r">
              <a:spcAft>
                <a:spcPts val="600"/>
              </a:spcAft>
            </a:pPr>
            <a:r>
              <a:rPr sz="1010">
                <a:solidFill>
                  <a:srgbClr val="E2E8F0"/>
                </a:solidFill>
                <a:latin typeface="Arial Unicode MS"/>
              </a:rPr>
              <a:t>• توسيع الفريق من قيادة فردية إلى نواة تنفيذية قابلة للتكرار.</a:t>
            </a:r>
          </a:p>
          <a:p>
            <a:pPr algn="r">
              <a:spcAft>
                <a:spcPts val="600"/>
              </a:spcAft>
            </a:pPr>
            <a:r>
              <a:rPr sz="1010">
                <a:solidFill>
                  <a:srgbClr val="E2E8F0"/>
                </a:solidFill>
                <a:latin typeface="Arial Unicode MS"/>
              </a:rPr>
              <a:t>• إثبات قناة اكتساب أولية مع مكاتب مدفوعة ونسخة شركات قيد التفعيل.</a:t>
            </a:r>
          </a:p>
          <a:p>
            <a:pPr algn="r">
              <a:spcAft>
                <a:spcPts val="600"/>
              </a:spcAft>
            </a:pPr>
            <a:r>
              <a:rPr sz="1010">
                <a:solidFill>
                  <a:srgbClr val="E2E8F0"/>
                </a:solidFill>
                <a:latin typeface="Arial Unicode MS"/>
              </a:rPr>
              <a:t>• رفع جودة البيانات والاحتفاظ والمنتج قبل أي جولة أكبر لاحقًا.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97880"/>
            <a:ext cx="11109960" cy="438912"/>
          </a:xfrm>
          <a:prstGeom prst="roundRect">
            <a:avLst/>
          </a:prstGeom>
          <a:solidFill>
            <a:srgbClr val="0D1B30"/>
          </a:solidFill>
          <a:ln w="12700">
            <a:solidFill>
              <a:srgbClr val="1F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6025896"/>
            <a:ext cx="10332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69" b="0">
                <a:solidFill>
                  <a:srgbClr val="CBD5E1"/>
                </a:solidFill>
                <a:latin typeface="Arial Unicode MS"/>
              </a:rPr>
              <a:t>الطرح الحالي مهيأ للنقاش مع المستثمرين الأوائل ويمكن ضبط هيكله بحسب نوع الجولة.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6501384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 Unicode MS"/>
              </a:rPr>
              <a:t>مسار المحامي | عرض استثماري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01384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rial Unicode MS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